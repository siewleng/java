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4" d="100"/>
          <a:sy n="44" d="100"/>
        </p:scale>
        <p:origin x="68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2DB03-097C-43A0-AAD9-5CF1D1420A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BD5F29-473E-4F6F-A585-B64E90ED77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1F5C47-3A3C-479C-B331-E3B376F4A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DAB0B-5F73-4AF5-9B45-47C867B6C9C1}" type="datetimeFigureOut">
              <a:rPr lang="en-SG" smtClean="0"/>
              <a:t>17 May 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C3E20-D06D-4D91-A2DB-991430276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496C42-67CA-47BE-833C-2A0644E20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1E0E-6CC8-44D1-9075-53715C33D95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65727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42B3F-7AE9-493C-AC8E-667419DE7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282F4-7053-4AF1-B543-FD1D1E5D1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E7E05-B91C-462E-A0F5-22BC07CDB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DAB0B-5F73-4AF5-9B45-47C867B6C9C1}" type="datetimeFigureOut">
              <a:rPr lang="en-SG" smtClean="0"/>
              <a:t>17 May 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6C58BA-24B5-4685-BA55-8748200BC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B4950-46D4-40EB-986E-EFC1D6D1B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1E0E-6CC8-44D1-9075-53715C33D95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87221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066E4-DEFE-4B50-9A74-972D7DFA7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9D3B25-EF16-4917-87AC-5997DD9A55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D4D10F-1519-49B5-BEF4-5794AF1B0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DAB0B-5F73-4AF5-9B45-47C867B6C9C1}" type="datetimeFigureOut">
              <a:rPr lang="en-SG" smtClean="0"/>
              <a:t>17 May 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64945E-832F-4C1B-BA2D-99288A429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3BF55-36AE-4BC8-B126-503DDF4C0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1E0E-6CC8-44D1-9075-53715C33D95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99350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E8208-776D-4D96-9B67-BB8AC4152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5B57D-3F99-4C94-AE4F-A1EE18E80E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9C9AA0-E8BD-46F9-9FC8-4BAFB1420C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FC8643-A49A-47B8-9C31-991D9CA6B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DAB0B-5F73-4AF5-9B45-47C867B6C9C1}" type="datetimeFigureOut">
              <a:rPr lang="en-SG" smtClean="0"/>
              <a:t>17 May 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D46C6B-9459-4E49-86FA-35297A956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ABB020-4CEC-4C07-A0A1-EE30FBC27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1E0E-6CC8-44D1-9075-53715C33D95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20304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59B3D-B075-41B5-B872-29D45EE9F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ABEA9F-52B8-45BC-827E-5CF013E68B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F9FCB3-7B98-4DFB-A8E6-07B2F90BE8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320933-90CB-42FE-AF9E-79640EA9F9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808839-D86C-498E-8045-87CDAFD6EE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BBA585-2646-47B2-8AE8-0A3FB0707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DAB0B-5F73-4AF5-9B45-47C867B6C9C1}" type="datetimeFigureOut">
              <a:rPr lang="en-SG" smtClean="0"/>
              <a:t>17 May 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815F96-8F4E-44A9-A0E7-2E973CA58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32A735-40A2-4D19-86E5-AB74B533C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1E0E-6CC8-44D1-9075-53715C33D95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44528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D9B9E-1118-45A2-AE35-68622DA7A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69CF45-7DB2-4697-B8A8-59274E53A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DAB0B-5F73-4AF5-9B45-47C867B6C9C1}" type="datetimeFigureOut">
              <a:rPr lang="en-SG" smtClean="0"/>
              <a:t>17 May 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EED570-DB60-42BA-AC9F-D1C16DF6C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F6F9C7-789B-46F5-8F68-464415147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1E0E-6CC8-44D1-9075-53715C33D95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12268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2705AC-A306-4893-9B04-99E1E71D3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DAB0B-5F73-4AF5-9B45-47C867B6C9C1}" type="datetimeFigureOut">
              <a:rPr lang="en-SG" smtClean="0"/>
              <a:t>17 May 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55060B-32D0-40CD-9C53-A0B262A98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884C11-00E3-4299-B379-46D754C1D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1E0E-6CC8-44D1-9075-53715C33D95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63236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66A0C-B2DF-4184-A497-3671A50D2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772B9-CD43-431F-BF48-9181CFB6EA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1638DB-E9DC-48AF-A748-95BDE0CA0D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78DFBE-CA6A-4983-97AA-887CF02B5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DAB0B-5F73-4AF5-9B45-47C867B6C9C1}" type="datetimeFigureOut">
              <a:rPr lang="en-SG" smtClean="0"/>
              <a:t>17 May 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9E638A-8EB3-4964-9527-FE271B095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12E7A5-260A-478C-BE45-1C08B98EB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1E0E-6CC8-44D1-9075-53715C33D95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87483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A46C3-1E94-4CD0-969D-DF64DFF08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AACB06-0482-4316-8F39-52180B902C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88BCD6-10B0-4664-8AF0-D535363EBA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988BA8-EB3E-415E-83B2-6F1C25CBD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DAB0B-5F73-4AF5-9B45-47C867B6C9C1}" type="datetimeFigureOut">
              <a:rPr lang="en-SG" smtClean="0"/>
              <a:t>17 May 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90781C-7435-4FFA-B37B-896E9F41D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533073-B860-43D1-8297-7C66D3762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1E0E-6CC8-44D1-9075-53715C33D95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12518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ABC41-E798-4E8C-AC94-25B1E5E1A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F25BBD-F7BC-4491-8176-C82DE486E8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AAA11-028C-49E6-908F-FF1B776E3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DAB0B-5F73-4AF5-9B45-47C867B6C9C1}" type="datetimeFigureOut">
              <a:rPr lang="en-SG" smtClean="0"/>
              <a:t>17 May 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FF331-0BBD-420E-B54D-1C0423866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3FBC7-CF59-4706-9719-C6EC01DC9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1E0E-6CC8-44D1-9075-53715C33D95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25944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9BB498-C703-499E-B5CB-E03108F187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54AF9C-E0A4-4DA0-96EF-A5D590B2FE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13E2AD-6F4D-49A9-B6E6-EAD3AFE75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DAB0B-5F73-4AF5-9B45-47C867B6C9C1}" type="datetimeFigureOut">
              <a:rPr lang="en-SG" smtClean="0"/>
              <a:t>17 May 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B88F01-12A1-4C54-87EE-3EDA0A2EA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EB9EEB-A2E6-4500-828D-FF77E9FE5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1E0E-6CC8-44D1-9075-53715C33D95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69312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A54AA7-15E0-40BB-8BF5-D726716B0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F3199F-A8FE-4D8D-AB35-9A5ACD54A0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33A20E-6B15-44E4-9AB0-418E36BF2B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BDAB0B-5F73-4AF5-9B45-47C867B6C9C1}" type="datetimeFigureOut">
              <a:rPr lang="en-SG" smtClean="0"/>
              <a:t>17 May 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0FA42-AE02-4EC7-806C-4539705CE6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E228E4-F4A3-4CE7-9A88-65DACA8019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CA1E0E-6CC8-44D1-9075-53715C33D95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25582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F69710E-2931-4BD9-909C-2AAEFE0C0EE0}"/>
              </a:ext>
            </a:extLst>
          </p:cNvPr>
          <p:cNvSpPr txBox="1"/>
          <p:nvPr/>
        </p:nvSpPr>
        <p:spPr>
          <a:xfrm flipH="1">
            <a:off x="1761424" y="721895"/>
            <a:ext cx="3080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Pattern</a:t>
            </a:r>
            <a:endParaRPr lang="en-SG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D603626-0975-4ED1-AAB0-1232018F8F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6848881"/>
              </p:ext>
            </p:extLst>
          </p:nvPr>
        </p:nvGraphicFramePr>
        <p:xfrm>
          <a:off x="1857676" y="1304048"/>
          <a:ext cx="6705600" cy="27520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4479854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3929309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79099007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30706031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09011492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98681178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81757014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39803593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90214882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72919931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861781900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0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1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>
                          <a:effectLst/>
                        </a:rPr>
                        <a:t>2</a:t>
                      </a:r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3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>
                          <a:effectLst/>
                        </a:rPr>
                        <a:t>4</a:t>
                      </a:r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5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6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>
                          <a:effectLst/>
                        </a:rPr>
                        <a:t>7</a:t>
                      </a:r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>
                          <a:effectLst/>
                        </a:rPr>
                        <a:t>8</a:t>
                      </a:r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>
                          <a:effectLst/>
                        </a:rPr>
                        <a:t>9</a:t>
                      </a:r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>
                          <a:effectLst/>
                        </a:rPr>
                        <a:t>10</a:t>
                      </a:r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122485286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>
                          <a:effectLst/>
                        </a:rPr>
                        <a:t>a</a:t>
                      </a:r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>
                          <a:effectLst/>
                        </a:rPr>
                        <a:t>m</a:t>
                      </a:r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>
                          <a:effectLst/>
                        </a:rPr>
                        <a:t>a</a:t>
                      </a:r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>
                          <a:effectLst/>
                        </a:rPr>
                        <a:t>l</a:t>
                      </a:r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>
                          <a:effectLst/>
                        </a:rPr>
                        <a:t>g</a:t>
                      </a:r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>
                          <a:effectLst/>
                        </a:rPr>
                        <a:t>a</a:t>
                      </a:r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>
                          <a:effectLst/>
                        </a:rPr>
                        <a:t>m</a:t>
                      </a:r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t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i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>
                          <a:effectLst/>
                        </a:rPr>
                        <a:t>o</a:t>
                      </a:r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n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28221827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342312621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224681809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130662204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426138841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228869248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258423273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155859907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174148570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8460496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3332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6F94BA-3F0B-4974-842B-392FE8D9E6F1}"/>
              </a:ext>
            </a:extLst>
          </p:cNvPr>
          <p:cNvSpPr txBox="1"/>
          <p:nvPr/>
        </p:nvSpPr>
        <p:spPr>
          <a:xfrm flipH="1">
            <a:off x="1454216" y="421788"/>
            <a:ext cx="3080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Pattern</a:t>
            </a:r>
            <a:endParaRPr lang="en-SG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81BD0C5-6814-4DEE-B94B-B250CA00BE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9434717"/>
              </p:ext>
            </p:extLst>
          </p:nvPr>
        </p:nvGraphicFramePr>
        <p:xfrm>
          <a:off x="915933" y="1989264"/>
          <a:ext cx="3092450" cy="32524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450">
                  <a:extLst>
                    <a:ext uri="{9D8B030D-6E8A-4147-A177-3AD203B41FA5}">
                      <a16:colId xmlns:a16="http://schemas.microsoft.com/office/drawing/2014/main" val="1788754884"/>
                    </a:ext>
                  </a:extLst>
                </a:gridCol>
                <a:gridCol w="570034">
                  <a:extLst>
                    <a:ext uri="{9D8B030D-6E8A-4147-A177-3AD203B41FA5}">
                      <a16:colId xmlns:a16="http://schemas.microsoft.com/office/drawing/2014/main" val="4035052874"/>
                    </a:ext>
                  </a:extLst>
                </a:gridCol>
                <a:gridCol w="649166">
                  <a:extLst>
                    <a:ext uri="{9D8B030D-6E8A-4147-A177-3AD203B41FA5}">
                      <a16:colId xmlns:a16="http://schemas.microsoft.com/office/drawing/2014/main" val="300500881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75437024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5416658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211852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t"/>
                      <a:endParaRPr lang="en-SG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Step</a:t>
                      </a:r>
                      <a:endParaRPr lang="en-SG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</a:t>
                      </a:r>
                      <a:endParaRPr lang="en-SG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len</a:t>
                      </a:r>
                      <a:endParaRPr lang="en-SG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f(</a:t>
                      </a:r>
                      <a:r>
                        <a:rPr lang="en-US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</a:t>
                      </a: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endParaRPr lang="en-SG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66991392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t"/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381675622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t"/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en-SG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en-SG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SG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SG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97414913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t"/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  <a:endParaRPr lang="en-SG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en-SG" sz="1600" b="1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en-SG" sz="1600" b="1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en-SG" sz="1600" b="1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317718252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t"/>
                      <a:endParaRPr lang="en-SG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  <a:endParaRPr lang="en-SG" sz="16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  <a:endParaRPr lang="en-SG" sz="16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SG" sz="16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SG" sz="16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103584661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t"/>
                      <a:endParaRPr lang="en-SG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  <a:endParaRPr lang="en-SG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62805943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t"/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  <a:endParaRPr lang="en-SG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284332908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t"/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  <a:endParaRPr lang="en-SG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3971867638"/>
                  </a:ext>
                </a:extLst>
              </a:tr>
              <a:tr h="176463">
                <a:tc>
                  <a:txBody>
                    <a:bodyPr/>
                    <a:lstStyle/>
                    <a:p>
                      <a:pPr algn="ctr" fontAlgn="t"/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  <a:endParaRPr lang="en-SG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101438090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t"/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288280139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t"/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119262281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t"/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14000692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t"/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272832788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6150630-CB82-4DB8-B16D-C68AF5BB2AEC}"/>
              </a:ext>
            </a:extLst>
          </p:cNvPr>
          <p:cNvSpPr txBox="1"/>
          <p:nvPr/>
        </p:nvSpPr>
        <p:spPr>
          <a:xfrm>
            <a:off x="4402051" y="1930844"/>
            <a:ext cx="68900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f(</a:t>
            </a:r>
            <a:r>
              <a:rPr lang="en-US" dirty="0" err="1"/>
              <a:t>i</a:t>
            </a:r>
            <a:r>
              <a:rPr lang="en-US" dirty="0"/>
              <a:t>) is </a:t>
            </a:r>
            <a:r>
              <a:rPr lang="en-SG" dirty="0"/>
              <a:t>KMP Failure Function.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f(k) is defined as the length of the longest prefix of P that is a suffix of P[1:k+1] (note that we did not include P[0] here, since we will shift at least one unit).</a:t>
            </a:r>
            <a:r>
              <a:rPr lang="en-SG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FF1100-0CEE-4C78-85BA-4D2C414D561A}"/>
              </a:ext>
            </a:extLst>
          </p:cNvPr>
          <p:cNvSpPr txBox="1"/>
          <p:nvPr/>
        </p:nvSpPr>
        <p:spPr>
          <a:xfrm>
            <a:off x="4720050" y="3299975"/>
            <a:ext cx="834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Step 4</a:t>
            </a:r>
            <a:r>
              <a:rPr lang="en-US" dirty="0"/>
              <a:t>:</a:t>
            </a:r>
            <a:endParaRPr lang="en-SG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B48133C-705B-4E06-B500-9428BC492E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0344850"/>
              </p:ext>
            </p:extLst>
          </p:nvPr>
        </p:nvGraphicFramePr>
        <p:xfrm>
          <a:off x="1454216" y="864486"/>
          <a:ext cx="6890088" cy="5003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4174">
                  <a:extLst>
                    <a:ext uri="{9D8B030D-6E8A-4147-A177-3AD203B41FA5}">
                      <a16:colId xmlns:a16="http://schemas.microsoft.com/office/drawing/2014/main" val="1173631306"/>
                    </a:ext>
                  </a:extLst>
                </a:gridCol>
                <a:gridCol w="574174">
                  <a:extLst>
                    <a:ext uri="{9D8B030D-6E8A-4147-A177-3AD203B41FA5}">
                      <a16:colId xmlns:a16="http://schemas.microsoft.com/office/drawing/2014/main" val="308182348"/>
                    </a:ext>
                  </a:extLst>
                </a:gridCol>
                <a:gridCol w="574174">
                  <a:extLst>
                    <a:ext uri="{9D8B030D-6E8A-4147-A177-3AD203B41FA5}">
                      <a16:colId xmlns:a16="http://schemas.microsoft.com/office/drawing/2014/main" val="2745123873"/>
                    </a:ext>
                  </a:extLst>
                </a:gridCol>
                <a:gridCol w="574174">
                  <a:extLst>
                    <a:ext uri="{9D8B030D-6E8A-4147-A177-3AD203B41FA5}">
                      <a16:colId xmlns:a16="http://schemas.microsoft.com/office/drawing/2014/main" val="1997335637"/>
                    </a:ext>
                  </a:extLst>
                </a:gridCol>
                <a:gridCol w="574174">
                  <a:extLst>
                    <a:ext uri="{9D8B030D-6E8A-4147-A177-3AD203B41FA5}">
                      <a16:colId xmlns:a16="http://schemas.microsoft.com/office/drawing/2014/main" val="1193406613"/>
                    </a:ext>
                  </a:extLst>
                </a:gridCol>
                <a:gridCol w="574174">
                  <a:extLst>
                    <a:ext uri="{9D8B030D-6E8A-4147-A177-3AD203B41FA5}">
                      <a16:colId xmlns:a16="http://schemas.microsoft.com/office/drawing/2014/main" val="3995998538"/>
                    </a:ext>
                  </a:extLst>
                </a:gridCol>
                <a:gridCol w="574174">
                  <a:extLst>
                    <a:ext uri="{9D8B030D-6E8A-4147-A177-3AD203B41FA5}">
                      <a16:colId xmlns:a16="http://schemas.microsoft.com/office/drawing/2014/main" val="927068575"/>
                    </a:ext>
                  </a:extLst>
                </a:gridCol>
                <a:gridCol w="574174">
                  <a:extLst>
                    <a:ext uri="{9D8B030D-6E8A-4147-A177-3AD203B41FA5}">
                      <a16:colId xmlns:a16="http://schemas.microsoft.com/office/drawing/2014/main" val="3310283624"/>
                    </a:ext>
                  </a:extLst>
                </a:gridCol>
                <a:gridCol w="574174">
                  <a:extLst>
                    <a:ext uri="{9D8B030D-6E8A-4147-A177-3AD203B41FA5}">
                      <a16:colId xmlns:a16="http://schemas.microsoft.com/office/drawing/2014/main" val="3696460899"/>
                    </a:ext>
                  </a:extLst>
                </a:gridCol>
                <a:gridCol w="574174">
                  <a:extLst>
                    <a:ext uri="{9D8B030D-6E8A-4147-A177-3AD203B41FA5}">
                      <a16:colId xmlns:a16="http://schemas.microsoft.com/office/drawing/2014/main" val="1563715053"/>
                    </a:ext>
                  </a:extLst>
                </a:gridCol>
                <a:gridCol w="574174">
                  <a:extLst>
                    <a:ext uri="{9D8B030D-6E8A-4147-A177-3AD203B41FA5}">
                      <a16:colId xmlns:a16="http://schemas.microsoft.com/office/drawing/2014/main" val="3535178165"/>
                    </a:ext>
                  </a:extLst>
                </a:gridCol>
                <a:gridCol w="574174">
                  <a:extLst>
                    <a:ext uri="{9D8B030D-6E8A-4147-A177-3AD203B41FA5}">
                      <a16:colId xmlns:a16="http://schemas.microsoft.com/office/drawing/2014/main" val="4221968555"/>
                    </a:ext>
                  </a:extLst>
                </a:gridCol>
              </a:tblGrid>
              <a:tr h="222255"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0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>
                          <a:effectLst/>
                        </a:rPr>
                        <a:t>1</a:t>
                      </a:r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2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>
                          <a:effectLst/>
                        </a:rPr>
                        <a:t>3</a:t>
                      </a:r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>
                          <a:effectLst/>
                        </a:rPr>
                        <a:t>4</a:t>
                      </a:r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>
                          <a:effectLst/>
                        </a:rPr>
                        <a:t>5</a:t>
                      </a:r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>
                          <a:effectLst/>
                        </a:rPr>
                        <a:t>6</a:t>
                      </a:r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>
                          <a:effectLst/>
                        </a:rPr>
                        <a:t>7</a:t>
                      </a:r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>
                          <a:effectLst/>
                        </a:rPr>
                        <a:t>8</a:t>
                      </a:r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>
                          <a:effectLst/>
                        </a:rPr>
                        <a:t>9</a:t>
                      </a:r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>
                          <a:effectLst/>
                        </a:rPr>
                        <a:t>10</a:t>
                      </a:r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>
                          <a:effectLst/>
                        </a:rPr>
                        <a:t>11</a:t>
                      </a:r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2939734255"/>
                  </a:ext>
                </a:extLst>
              </a:tr>
              <a:tr h="222255"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a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m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a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l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g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>
                          <a:effectLst/>
                        </a:rPr>
                        <a:t>a</a:t>
                      </a:r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m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a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t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i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o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n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33566822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15646A6-50D2-4B88-BD22-CBE7B2C7EC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5675176"/>
              </p:ext>
            </p:extLst>
          </p:nvPr>
        </p:nvGraphicFramePr>
        <p:xfrm>
          <a:off x="5577500" y="3939188"/>
          <a:ext cx="1148348" cy="5003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4174">
                  <a:extLst>
                    <a:ext uri="{9D8B030D-6E8A-4147-A177-3AD203B41FA5}">
                      <a16:colId xmlns:a16="http://schemas.microsoft.com/office/drawing/2014/main" val="663252366"/>
                    </a:ext>
                  </a:extLst>
                </a:gridCol>
                <a:gridCol w="574174">
                  <a:extLst>
                    <a:ext uri="{9D8B030D-6E8A-4147-A177-3AD203B41FA5}">
                      <a16:colId xmlns:a16="http://schemas.microsoft.com/office/drawing/2014/main" val="2944773291"/>
                    </a:ext>
                  </a:extLst>
                </a:gridCol>
              </a:tblGrid>
              <a:tr h="222255"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0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>
                          <a:effectLst/>
                        </a:rPr>
                        <a:t>1</a:t>
                      </a:r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2759671476"/>
                  </a:ext>
                </a:extLst>
              </a:tr>
              <a:tr h="222255"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a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m</a:t>
                      </a:r>
                      <a:endParaRPr lang="en-SG" sz="16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1720190035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4EF48EB-5F29-424B-852D-3B379A1932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4309524"/>
              </p:ext>
            </p:extLst>
          </p:nvPr>
        </p:nvGraphicFramePr>
        <p:xfrm>
          <a:off x="5577500" y="4703520"/>
          <a:ext cx="1148348" cy="5003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4174">
                  <a:extLst>
                    <a:ext uri="{9D8B030D-6E8A-4147-A177-3AD203B41FA5}">
                      <a16:colId xmlns:a16="http://schemas.microsoft.com/office/drawing/2014/main" val="2097224413"/>
                    </a:ext>
                  </a:extLst>
                </a:gridCol>
                <a:gridCol w="574174">
                  <a:extLst>
                    <a:ext uri="{9D8B030D-6E8A-4147-A177-3AD203B41FA5}">
                      <a16:colId xmlns:a16="http://schemas.microsoft.com/office/drawing/2014/main" val="253996201"/>
                    </a:ext>
                  </a:extLst>
                </a:gridCol>
              </a:tblGrid>
              <a:tr h="77368"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2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3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4071607981"/>
                  </a:ext>
                </a:extLst>
              </a:tr>
              <a:tr h="222255"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a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l</a:t>
                      </a:r>
                      <a:endParaRPr lang="en-SG" sz="16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2986907094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015FA9A2-339B-4D99-B886-A180A436E6E1}"/>
              </a:ext>
            </a:extLst>
          </p:cNvPr>
          <p:cNvSpPr txBox="1"/>
          <p:nvPr/>
        </p:nvSpPr>
        <p:spPr>
          <a:xfrm>
            <a:off x="4720050" y="4016326"/>
            <a:ext cx="7166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Prefix</a:t>
            </a:r>
            <a:endParaRPr lang="en-SG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893B3B-11E6-4B24-B31B-ADD00B1210D7}"/>
              </a:ext>
            </a:extLst>
          </p:cNvPr>
          <p:cNvSpPr txBox="1"/>
          <p:nvPr/>
        </p:nvSpPr>
        <p:spPr>
          <a:xfrm>
            <a:off x="4720944" y="4788560"/>
            <a:ext cx="755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Subfix</a:t>
            </a:r>
            <a:endParaRPr lang="en-SG" dirty="0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42A8A64A-667C-4B4B-84D6-1D82AA6530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7931678"/>
              </p:ext>
            </p:extLst>
          </p:nvPr>
        </p:nvGraphicFramePr>
        <p:xfrm>
          <a:off x="7294339" y="3951782"/>
          <a:ext cx="574174" cy="5003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4174">
                  <a:extLst>
                    <a:ext uri="{9D8B030D-6E8A-4147-A177-3AD203B41FA5}">
                      <a16:colId xmlns:a16="http://schemas.microsoft.com/office/drawing/2014/main" val="1518553484"/>
                    </a:ext>
                  </a:extLst>
                </a:gridCol>
              </a:tblGrid>
              <a:tr h="222255"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0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872828899"/>
                  </a:ext>
                </a:extLst>
              </a:tr>
              <a:tr h="222255"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a</a:t>
                      </a:r>
                      <a:endParaRPr lang="en-SG" sz="16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1176864254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1236E6F2-CAE3-4869-9351-FCB65BCFCC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6508688"/>
              </p:ext>
            </p:extLst>
          </p:nvPr>
        </p:nvGraphicFramePr>
        <p:xfrm>
          <a:off x="7294339" y="4723036"/>
          <a:ext cx="574174" cy="5003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4174">
                  <a:extLst>
                    <a:ext uri="{9D8B030D-6E8A-4147-A177-3AD203B41FA5}">
                      <a16:colId xmlns:a16="http://schemas.microsoft.com/office/drawing/2014/main" val="377195527"/>
                    </a:ext>
                  </a:extLst>
                </a:gridCol>
              </a:tblGrid>
              <a:tr h="77368"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3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18781249"/>
                  </a:ext>
                </a:extLst>
              </a:tr>
              <a:tr h="222255"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l</a:t>
                      </a:r>
                      <a:endParaRPr lang="en-SG" sz="16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1095163388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822820CC-1AA4-4764-A79B-C41CE1ED84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9949119"/>
              </p:ext>
            </p:extLst>
          </p:nvPr>
        </p:nvGraphicFramePr>
        <p:xfrm>
          <a:off x="8437004" y="4728823"/>
          <a:ext cx="574174" cy="5003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4174">
                  <a:extLst>
                    <a:ext uri="{9D8B030D-6E8A-4147-A177-3AD203B41FA5}">
                      <a16:colId xmlns:a16="http://schemas.microsoft.com/office/drawing/2014/main" val="3148957516"/>
                    </a:ext>
                  </a:extLst>
                </a:gridCol>
              </a:tblGrid>
              <a:tr h="77368"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3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765567515"/>
                  </a:ext>
                </a:extLst>
              </a:tr>
              <a:tr h="222255"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l</a:t>
                      </a:r>
                      <a:endParaRPr lang="en-SG" sz="16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1989903464"/>
                  </a:ext>
                </a:extLst>
              </a:tr>
            </a:tbl>
          </a:graphicData>
        </a:graphic>
      </p:graphicFrame>
      <p:sp>
        <p:nvSpPr>
          <p:cNvPr id="22" name="Rectangle 21">
            <a:extLst>
              <a:ext uri="{FF2B5EF4-FFF2-40B4-BE49-F238E27FC236}">
                <a16:creationId xmlns:a16="http://schemas.microsoft.com/office/drawing/2014/main" id="{A610BCC5-146B-4319-BE39-CB050A7B66FC}"/>
              </a:ext>
            </a:extLst>
          </p:cNvPr>
          <p:cNvSpPr/>
          <p:nvPr/>
        </p:nvSpPr>
        <p:spPr>
          <a:xfrm>
            <a:off x="5577500" y="3939188"/>
            <a:ext cx="574174" cy="1264712"/>
          </a:xfrm>
          <a:prstGeom prst="rect">
            <a:avLst/>
          </a:prstGeom>
          <a:solidFill>
            <a:srgbClr val="FFFF00">
              <a:alpha val="37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DF17F9D-C155-4F5B-A7B2-6206855DC6C4}"/>
              </a:ext>
            </a:extLst>
          </p:cNvPr>
          <p:cNvCxnSpPr/>
          <p:nvPr/>
        </p:nvCxnSpPr>
        <p:spPr>
          <a:xfrm>
            <a:off x="5436656" y="5709920"/>
            <a:ext cx="3657940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C0CFA24-2B4E-4D53-B820-D87434D23139}"/>
              </a:ext>
            </a:extLst>
          </p:cNvPr>
          <p:cNvSpPr txBox="1"/>
          <p:nvPr/>
        </p:nvSpPr>
        <p:spPr>
          <a:xfrm>
            <a:off x="5727307" y="5852552"/>
            <a:ext cx="3134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Shorter prefix and subfix length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42327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6F94BA-3F0B-4974-842B-392FE8D9E6F1}"/>
              </a:ext>
            </a:extLst>
          </p:cNvPr>
          <p:cNvSpPr txBox="1"/>
          <p:nvPr/>
        </p:nvSpPr>
        <p:spPr>
          <a:xfrm flipH="1">
            <a:off x="878840" y="317515"/>
            <a:ext cx="3080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Pattern</a:t>
            </a:r>
            <a:endParaRPr lang="en-SG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81BD0C5-6814-4DEE-B94B-B250CA00BE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0553721"/>
              </p:ext>
            </p:extLst>
          </p:nvPr>
        </p:nvGraphicFramePr>
        <p:xfrm>
          <a:off x="601713" y="1703291"/>
          <a:ext cx="3092450" cy="32524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450">
                  <a:extLst>
                    <a:ext uri="{9D8B030D-6E8A-4147-A177-3AD203B41FA5}">
                      <a16:colId xmlns:a16="http://schemas.microsoft.com/office/drawing/2014/main" val="178875488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03505287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00500881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75437024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5416658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21185264"/>
                    </a:ext>
                  </a:extLst>
                </a:gridCol>
              </a:tblGrid>
              <a:tr h="178602">
                <a:tc>
                  <a:txBody>
                    <a:bodyPr/>
                    <a:lstStyle/>
                    <a:p>
                      <a:pPr algn="ctr" fontAlgn="t"/>
                      <a:endParaRPr lang="en-SG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Step</a:t>
                      </a:r>
                      <a:endParaRPr lang="en-SG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</a:t>
                      </a:r>
                      <a:endParaRPr lang="en-SG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len</a:t>
                      </a:r>
                      <a:endParaRPr lang="en-SG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f(</a:t>
                      </a:r>
                      <a:r>
                        <a:rPr lang="en-US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</a:t>
                      </a: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endParaRPr lang="en-SG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66991392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t"/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381675622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t"/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97414913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t"/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  <a:endParaRPr lang="en-SG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i="0" u="none" strike="noStrike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en-SG" sz="1600" b="1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i="0" u="none" strike="noStrike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en-SG" sz="1600" b="1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i="0" u="none" strike="noStrike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en-SG" sz="1600" b="1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317718252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t"/>
                      <a:endParaRPr lang="en-SG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  <a:endParaRPr lang="en-SG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103584661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t"/>
                      <a:endParaRPr lang="en-SG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  <a:endParaRPr lang="en-SG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62805943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t"/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  <a:endParaRPr lang="en-SG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284332908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t"/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  <a:endParaRPr lang="en-SG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3971867638"/>
                  </a:ext>
                </a:extLst>
              </a:tr>
              <a:tr h="176463">
                <a:tc>
                  <a:txBody>
                    <a:bodyPr/>
                    <a:lstStyle/>
                    <a:p>
                      <a:pPr algn="ctr" fontAlgn="t"/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  <a:endParaRPr lang="en-SG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  <a:endParaRPr lang="en-SG" sz="1600" b="1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  <a:endParaRPr lang="en-SG" sz="1600" b="1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  <a:endParaRPr lang="en-SG" sz="1600" b="1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101438090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t"/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endParaRPr lang="en-SG" sz="16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  <a:endParaRPr lang="en-SG" sz="16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SG" sz="16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SG" sz="16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288280139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t"/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119262281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t"/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14000692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t"/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272832788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6150630-CB82-4DB8-B16D-C68AF5BB2AEC}"/>
              </a:ext>
            </a:extLst>
          </p:cNvPr>
          <p:cNvSpPr txBox="1"/>
          <p:nvPr/>
        </p:nvSpPr>
        <p:spPr>
          <a:xfrm>
            <a:off x="4182946" y="1719020"/>
            <a:ext cx="68900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f(</a:t>
            </a:r>
            <a:r>
              <a:rPr lang="en-US" dirty="0" err="1"/>
              <a:t>i</a:t>
            </a:r>
            <a:r>
              <a:rPr lang="en-US" dirty="0"/>
              <a:t>) is </a:t>
            </a:r>
            <a:r>
              <a:rPr lang="en-SG" dirty="0"/>
              <a:t>KMP Failure Function.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f(k) is defined as the length of the longest prefix of P that is a suffix of P[1:k+1] (note that we did not include P[0] here, since we will shift at least one unit).</a:t>
            </a:r>
            <a:r>
              <a:rPr lang="en-SG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FF1100-0CEE-4C78-85BA-4D2C414D561A}"/>
              </a:ext>
            </a:extLst>
          </p:cNvPr>
          <p:cNvSpPr txBox="1"/>
          <p:nvPr/>
        </p:nvSpPr>
        <p:spPr>
          <a:xfrm>
            <a:off x="4522069" y="3010995"/>
            <a:ext cx="843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Step 9:</a:t>
            </a:r>
            <a:endParaRPr lang="en-SG" b="1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B48133C-705B-4E06-B500-9428BC492E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4993671"/>
              </p:ext>
            </p:extLst>
          </p:nvPr>
        </p:nvGraphicFramePr>
        <p:xfrm>
          <a:off x="601713" y="859678"/>
          <a:ext cx="6890088" cy="5003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4174">
                  <a:extLst>
                    <a:ext uri="{9D8B030D-6E8A-4147-A177-3AD203B41FA5}">
                      <a16:colId xmlns:a16="http://schemas.microsoft.com/office/drawing/2014/main" val="1173631306"/>
                    </a:ext>
                  </a:extLst>
                </a:gridCol>
                <a:gridCol w="574174">
                  <a:extLst>
                    <a:ext uri="{9D8B030D-6E8A-4147-A177-3AD203B41FA5}">
                      <a16:colId xmlns:a16="http://schemas.microsoft.com/office/drawing/2014/main" val="308182348"/>
                    </a:ext>
                  </a:extLst>
                </a:gridCol>
                <a:gridCol w="574174">
                  <a:extLst>
                    <a:ext uri="{9D8B030D-6E8A-4147-A177-3AD203B41FA5}">
                      <a16:colId xmlns:a16="http://schemas.microsoft.com/office/drawing/2014/main" val="2745123873"/>
                    </a:ext>
                  </a:extLst>
                </a:gridCol>
                <a:gridCol w="574174">
                  <a:extLst>
                    <a:ext uri="{9D8B030D-6E8A-4147-A177-3AD203B41FA5}">
                      <a16:colId xmlns:a16="http://schemas.microsoft.com/office/drawing/2014/main" val="1997335637"/>
                    </a:ext>
                  </a:extLst>
                </a:gridCol>
                <a:gridCol w="574174">
                  <a:extLst>
                    <a:ext uri="{9D8B030D-6E8A-4147-A177-3AD203B41FA5}">
                      <a16:colId xmlns:a16="http://schemas.microsoft.com/office/drawing/2014/main" val="1193406613"/>
                    </a:ext>
                  </a:extLst>
                </a:gridCol>
                <a:gridCol w="574174">
                  <a:extLst>
                    <a:ext uri="{9D8B030D-6E8A-4147-A177-3AD203B41FA5}">
                      <a16:colId xmlns:a16="http://schemas.microsoft.com/office/drawing/2014/main" val="3995998538"/>
                    </a:ext>
                  </a:extLst>
                </a:gridCol>
                <a:gridCol w="574174">
                  <a:extLst>
                    <a:ext uri="{9D8B030D-6E8A-4147-A177-3AD203B41FA5}">
                      <a16:colId xmlns:a16="http://schemas.microsoft.com/office/drawing/2014/main" val="927068575"/>
                    </a:ext>
                  </a:extLst>
                </a:gridCol>
                <a:gridCol w="574174">
                  <a:extLst>
                    <a:ext uri="{9D8B030D-6E8A-4147-A177-3AD203B41FA5}">
                      <a16:colId xmlns:a16="http://schemas.microsoft.com/office/drawing/2014/main" val="3310283624"/>
                    </a:ext>
                  </a:extLst>
                </a:gridCol>
                <a:gridCol w="574174">
                  <a:extLst>
                    <a:ext uri="{9D8B030D-6E8A-4147-A177-3AD203B41FA5}">
                      <a16:colId xmlns:a16="http://schemas.microsoft.com/office/drawing/2014/main" val="3696460899"/>
                    </a:ext>
                  </a:extLst>
                </a:gridCol>
                <a:gridCol w="574174">
                  <a:extLst>
                    <a:ext uri="{9D8B030D-6E8A-4147-A177-3AD203B41FA5}">
                      <a16:colId xmlns:a16="http://schemas.microsoft.com/office/drawing/2014/main" val="1563715053"/>
                    </a:ext>
                  </a:extLst>
                </a:gridCol>
                <a:gridCol w="574174">
                  <a:extLst>
                    <a:ext uri="{9D8B030D-6E8A-4147-A177-3AD203B41FA5}">
                      <a16:colId xmlns:a16="http://schemas.microsoft.com/office/drawing/2014/main" val="3535178165"/>
                    </a:ext>
                  </a:extLst>
                </a:gridCol>
                <a:gridCol w="574174">
                  <a:extLst>
                    <a:ext uri="{9D8B030D-6E8A-4147-A177-3AD203B41FA5}">
                      <a16:colId xmlns:a16="http://schemas.microsoft.com/office/drawing/2014/main" val="4221968555"/>
                    </a:ext>
                  </a:extLst>
                </a:gridCol>
              </a:tblGrid>
              <a:tr h="164780"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0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1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2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3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>
                          <a:effectLst/>
                        </a:rPr>
                        <a:t>4</a:t>
                      </a:r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5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6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7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>
                          <a:effectLst/>
                        </a:rPr>
                        <a:t>8</a:t>
                      </a:r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>
                          <a:effectLst/>
                        </a:rPr>
                        <a:t>9</a:t>
                      </a:r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>
                          <a:effectLst/>
                        </a:rPr>
                        <a:t>10</a:t>
                      </a:r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>
                          <a:effectLst/>
                        </a:rPr>
                        <a:t>11</a:t>
                      </a:r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2939734255"/>
                  </a:ext>
                </a:extLst>
              </a:tr>
              <a:tr h="222255"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>
                          <a:effectLst/>
                        </a:rPr>
                        <a:t>a</a:t>
                      </a:r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m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a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l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g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>
                          <a:effectLst/>
                        </a:rPr>
                        <a:t>a</a:t>
                      </a:r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m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a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t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i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o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n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33566822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AD78995-E60E-4AF8-9854-736A20D3EB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6135549"/>
              </p:ext>
            </p:extLst>
          </p:nvPr>
        </p:nvGraphicFramePr>
        <p:xfrm>
          <a:off x="5297665" y="3717971"/>
          <a:ext cx="2296696" cy="5003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4174">
                  <a:extLst>
                    <a:ext uri="{9D8B030D-6E8A-4147-A177-3AD203B41FA5}">
                      <a16:colId xmlns:a16="http://schemas.microsoft.com/office/drawing/2014/main" val="4054809758"/>
                    </a:ext>
                  </a:extLst>
                </a:gridCol>
                <a:gridCol w="574174">
                  <a:extLst>
                    <a:ext uri="{9D8B030D-6E8A-4147-A177-3AD203B41FA5}">
                      <a16:colId xmlns:a16="http://schemas.microsoft.com/office/drawing/2014/main" val="4157444813"/>
                    </a:ext>
                  </a:extLst>
                </a:gridCol>
                <a:gridCol w="574174">
                  <a:extLst>
                    <a:ext uri="{9D8B030D-6E8A-4147-A177-3AD203B41FA5}">
                      <a16:colId xmlns:a16="http://schemas.microsoft.com/office/drawing/2014/main" val="1856574461"/>
                    </a:ext>
                  </a:extLst>
                </a:gridCol>
                <a:gridCol w="574174">
                  <a:extLst>
                    <a:ext uri="{9D8B030D-6E8A-4147-A177-3AD203B41FA5}">
                      <a16:colId xmlns:a16="http://schemas.microsoft.com/office/drawing/2014/main" val="2371182916"/>
                    </a:ext>
                  </a:extLst>
                </a:gridCol>
              </a:tblGrid>
              <a:tr h="190342"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0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1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2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3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3271257097"/>
                  </a:ext>
                </a:extLst>
              </a:tr>
              <a:tr h="113407"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b="1" u="none" strike="noStrike" dirty="0">
                          <a:solidFill>
                            <a:schemeClr val="accent1"/>
                          </a:solidFill>
                          <a:effectLst/>
                        </a:rPr>
                        <a:t>a</a:t>
                      </a:r>
                      <a:endParaRPr lang="en-SG" sz="1600" b="1" i="0" u="none" strike="noStrike" dirty="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m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b="1" u="none" strike="noStrike" dirty="0">
                          <a:solidFill>
                            <a:srgbClr val="00B050"/>
                          </a:solidFill>
                          <a:effectLst/>
                        </a:rPr>
                        <a:t>a</a:t>
                      </a:r>
                      <a:endParaRPr lang="en-SG" sz="1600" b="1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l</a:t>
                      </a:r>
                      <a:endParaRPr lang="en-SG" sz="16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254931417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F0F4D16-7480-42D5-B8E4-EEF8CE35A6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2554222"/>
              </p:ext>
            </p:extLst>
          </p:nvPr>
        </p:nvGraphicFramePr>
        <p:xfrm>
          <a:off x="5297665" y="4655355"/>
          <a:ext cx="2296696" cy="5003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4174">
                  <a:extLst>
                    <a:ext uri="{9D8B030D-6E8A-4147-A177-3AD203B41FA5}">
                      <a16:colId xmlns:a16="http://schemas.microsoft.com/office/drawing/2014/main" val="1321749869"/>
                    </a:ext>
                  </a:extLst>
                </a:gridCol>
                <a:gridCol w="574174">
                  <a:extLst>
                    <a:ext uri="{9D8B030D-6E8A-4147-A177-3AD203B41FA5}">
                      <a16:colId xmlns:a16="http://schemas.microsoft.com/office/drawing/2014/main" val="1468184328"/>
                    </a:ext>
                  </a:extLst>
                </a:gridCol>
                <a:gridCol w="574174">
                  <a:extLst>
                    <a:ext uri="{9D8B030D-6E8A-4147-A177-3AD203B41FA5}">
                      <a16:colId xmlns:a16="http://schemas.microsoft.com/office/drawing/2014/main" val="696241556"/>
                    </a:ext>
                  </a:extLst>
                </a:gridCol>
                <a:gridCol w="574174">
                  <a:extLst>
                    <a:ext uri="{9D8B030D-6E8A-4147-A177-3AD203B41FA5}">
                      <a16:colId xmlns:a16="http://schemas.microsoft.com/office/drawing/2014/main" val="435486421"/>
                    </a:ext>
                  </a:extLst>
                </a:gridCol>
              </a:tblGrid>
              <a:tr h="222255"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5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6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7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8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1328994088"/>
                  </a:ext>
                </a:extLst>
              </a:tr>
              <a:tr h="100048"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a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m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a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t</a:t>
                      </a:r>
                      <a:endParaRPr lang="en-SG" sz="16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4289750861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1E7EE0B-F3AB-4E04-A596-5CC75128C671}"/>
              </a:ext>
            </a:extLst>
          </p:cNvPr>
          <p:cNvSpPr txBox="1"/>
          <p:nvPr/>
        </p:nvSpPr>
        <p:spPr>
          <a:xfrm>
            <a:off x="4522069" y="3783495"/>
            <a:ext cx="7166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Prefix</a:t>
            </a:r>
            <a:endParaRPr lang="en-SG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51DDBD-2A34-4F77-817B-071A04DB7202}"/>
              </a:ext>
            </a:extLst>
          </p:cNvPr>
          <p:cNvSpPr txBox="1"/>
          <p:nvPr/>
        </p:nvSpPr>
        <p:spPr>
          <a:xfrm>
            <a:off x="4522069" y="4786403"/>
            <a:ext cx="755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Subfix</a:t>
            </a:r>
            <a:endParaRPr lang="en-SG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6D55513-E4C5-4803-B6FB-925A7C092D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5309850"/>
              </p:ext>
            </p:extLst>
          </p:nvPr>
        </p:nvGraphicFramePr>
        <p:xfrm>
          <a:off x="8057040" y="3739290"/>
          <a:ext cx="1148348" cy="5003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4174">
                  <a:extLst>
                    <a:ext uri="{9D8B030D-6E8A-4147-A177-3AD203B41FA5}">
                      <a16:colId xmlns:a16="http://schemas.microsoft.com/office/drawing/2014/main" val="2655464756"/>
                    </a:ext>
                  </a:extLst>
                </a:gridCol>
                <a:gridCol w="574174">
                  <a:extLst>
                    <a:ext uri="{9D8B030D-6E8A-4147-A177-3AD203B41FA5}">
                      <a16:colId xmlns:a16="http://schemas.microsoft.com/office/drawing/2014/main" val="3437300002"/>
                    </a:ext>
                  </a:extLst>
                </a:gridCol>
              </a:tblGrid>
              <a:tr h="190342"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0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1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3186070777"/>
                  </a:ext>
                </a:extLst>
              </a:tr>
              <a:tr h="113407"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b="1" u="none" strike="noStrike" dirty="0">
                          <a:solidFill>
                            <a:schemeClr val="accent1"/>
                          </a:solidFill>
                          <a:effectLst/>
                        </a:rPr>
                        <a:t>a</a:t>
                      </a:r>
                      <a:endParaRPr lang="en-SG" sz="1600" b="1" i="0" u="none" strike="noStrike" dirty="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m</a:t>
                      </a:r>
                      <a:endParaRPr lang="en-SG" sz="16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853527665"/>
                  </a:ext>
                </a:extLst>
              </a:tr>
            </a:tbl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1AC217A-7F1A-469B-B57B-DC81407F978A}"/>
              </a:ext>
            </a:extLst>
          </p:cNvPr>
          <p:cNvCxnSpPr/>
          <p:nvPr/>
        </p:nvCxnSpPr>
        <p:spPr>
          <a:xfrm>
            <a:off x="5639965" y="3608853"/>
            <a:ext cx="11069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F4E08B45-069E-4EBB-99C7-44861AD60D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2555151"/>
              </p:ext>
            </p:extLst>
          </p:nvPr>
        </p:nvGraphicFramePr>
        <p:xfrm>
          <a:off x="8057040" y="4642943"/>
          <a:ext cx="1148348" cy="5003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4174">
                  <a:extLst>
                    <a:ext uri="{9D8B030D-6E8A-4147-A177-3AD203B41FA5}">
                      <a16:colId xmlns:a16="http://schemas.microsoft.com/office/drawing/2014/main" val="2735812267"/>
                    </a:ext>
                  </a:extLst>
                </a:gridCol>
                <a:gridCol w="574174">
                  <a:extLst>
                    <a:ext uri="{9D8B030D-6E8A-4147-A177-3AD203B41FA5}">
                      <a16:colId xmlns:a16="http://schemas.microsoft.com/office/drawing/2014/main" val="742555440"/>
                    </a:ext>
                  </a:extLst>
                </a:gridCol>
              </a:tblGrid>
              <a:tr h="222255"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7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8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1946978772"/>
                  </a:ext>
                </a:extLst>
              </a:tr>
              <a:tr h="100048"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a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t</a:t>
                      </a:r>
                      <a:endParaRPr lang="en-SG" sz="16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474206525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15EFDE3-A5C9-4069-864D-1CBA02F68A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5289433"/>
              </p:ext>
            </p:extLst>
          </p:nvPr>
        </p:nvGraphicFramePr>
        <p:xfrm>
          <a:off x="9620414" y="3717971"/>
          <a:ext cx="574174" cy="5003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4174">
                  <a:extLst>
                    <a:ext uri="{9D8B030D-6E8A-4147-A177-3AD203B41FA5}">
                      <a16:colId xmlns:a16="http://schemas.microsoft.com/office/drawing/2014/main" val="2500144445"/>
                    </a:ext>
                  </a:extLst>
                </a:gridCol>
              </a:tblGrid>
              <a:tr h="190342"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0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1379869805"/>
                  </a:ext>
                </a:extLst>
              </a:tr>
              <a:tr h="113407"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a</a:t>
                      </a:r>
                      <a:endParaRPr lang="en-SG" sz="16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487184482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4A439774-B82F-4156-A1F7-F45E88A03F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3366236"/>
              </p:ext>
            </p:extLst>
          </p:nvPr>
        </p:nvGraphicFramePr>
        <p:xfrm>
          <a:off x="9620414" y="4699560"/>
          <a:ext cx="574174" cy="5003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4174">
                  <a:extLst>
                    <a:ext uri="{9D8B030D-6E8A-4147-A177-3AD203B41FA5}">
                      <a16:colId xmlns:a16="http://schemas.microsoft.com/office/drawing/2014/main" val="2390381519"/>
                    </a:ext>
                  </a:extLst>
                </a:gridCol>
              </a:tblGrid>
              <a:tr h="222255"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8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276317065"/>
                  </a:ext>
                </a:extLst>
              </a:tr>
              <a:tr h="100048"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t</a:t>
                      </a:r>
                      <a:endParaRPr lang="en-SG" sz="16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1423107570"/>
                  </a:ext>
                </a:extLst>
              </a:tr>
            </a:tbl>
          </a:graphicData>
        </a:graphic>
      </p:graphicFrame>
      <p:sp>
        <p:nvSpPr>
          <p:cNvPr id="17" name="Rectangle 16">
            <a:extLst>
              <a:ext uri="{FF2B5EF4-FFF2-40B4-BE49-F238E27FC236}">
                <a16:creationId xmlns:a16="http://schemas.microsoft.com/office/drawing/2014/main" id="{93422C67-992F-47B4-8513-FB11797AE0BB}"/>
              </a:ext>
            </a:extLst>
          </p:cNvPr>
          <p:cNvSpPr/>
          <p:nvPr/>
        </p:nvSpPr>
        <p:spPr>
          <a:xfrm>
            <a:off x="5307304" y="3717971"/>
            <a:ext cx="1739033" cy="1416445"/>
          </a:xfrm>
          <a:prstGeom prst="rect">
            <a:avLst/>
          </a:prstGeom>
          <a:solidFill>
            <a:srgbClr val="FFFF00">
              <a:alpha val="37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FB7566E-40D7-46EF-AC65-F8A802B69808}"/>
              </a:ext>
            </a:extLst>
          </p:cNvPr>
          <p:cNvSpPr/>
          <p:nvPr/>
        </p:nvSpPr>
        <p:spPr>
          <a:xfrm>
            <a:off x="8085304" y="3707981"/>
            <a:ext cx="574174" cy="1416445"/>
          </a:xfrm>
          <a:prstGeom prst="rect">
            <a:avLst/>
          </a:prstGeom>
          <a:solidFill>
            <a:srgbClr val="FFFF00">
              <a:alpha val="37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C90B48C3-E7A3-4243-90F3-1C1DBEFDD4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3367867"/>
              </p:ext>
            </p:extLst>
          </p:nvPr>
        </p:nvGraphicFramePr>
        <p:xfrm>
          <a:off x="10609614" y="4699560"/>
          <a:ext cx="574174" cy="5003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4174">
                  <a:extLst>
                    <a:ext uri="{9D8B030D-6E8A-4147-A177-3AD203B41FA5}">
                      <a16:colId xmlns:a16="http://schemas.microsoft.com/office/drawing/2014/main" val="2390381519"/>
                    </a:ext>
                  </a:extLst>
                </a:gridCol>
              </a:tblGrid>
              <a:tr h="222255"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8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276317065"/>
                  </a:ext>
                </a:extLst>
              </a:tr>
              <a:tr h="100048"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t</a:t>
                      </a:r>
                      <a:endParaRPr lang="en-SG" sz="16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1423107570"/>
                  </a:ext>
                </a:extLst>
              </a:tr>
            </a:tbl>
          </a:graphicData>
        </a:graphic>
      </p:graphicFrame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A26A747-206D-49A9-8315-DA1B1645FAA1}"/>
              </a:ext>
            </a:extLst>
          </p:cNvPr>
          <p:cNvCxnSpPr>
            <a:cxnSpLocks/>
          </p:cNvCxnSpPr>
          <p:nvPr/>
        </p:nvCxnSpPr>
        <p:spPr>
          <a:xfrm>
            <a:off x="5365954" y="5709920"/>
            <a:ext cx="5707080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3B927B1-86FF-4970-A887-72D9D8CA5F67}"/>
              </a:ext>
            </a:extLst>
          </p:cNvPr>
          <p:cNvSpPr txBox="1"/>
          <p:nvPr/>
        </p:nvSpPr>
        <p:spPr>
          <a:xfrm>
            <a:off x="6490008" y="5850569"/>
            <a:ext cx="3134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Shorter prefix and subfix length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6836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6F94BA-3F0B-4974-842B-392FE8D9E6F1}"/>
              </a:ext>
            </a:extLst>
          </p:cNvPr>
          <p:cNvSpPr txBox="1"/>
          <p:nvPr/>
        </p:nvSpPr>
        <p:spPr>
          <a:xfrm flipH="1">
            <a:off x="878840" y="317515"/>
            <a:ext cx="3080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Pattern</a:t>
            </a:r>
            <a:endParaRPr lang="en-SG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81BD0C5-6814-4DEE-B94B-B250CA00BE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8268575"/>
              </p:ext>
            </p:extLst>
          </p:nvPr>
        </p:nvGraphicFramePr>
        <p:xfrm>
          <a:off x="601713" y="1703291"/>
          <a:ext cx="3092450" cy="32524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450">
                  <a:extLst>
                    <a:ext uri="{9D8B030D-6E8A-4147-A177-3AD203B41FA5}">
                      <a16:colId xmlns:a16="http://schemas.microsoft.com/office/drawing/2014/main" val="178875488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03505287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00500881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75437024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5416658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21185264"/>
                    </a:ext>
                  </a:extLst>
                </a:gridCol>
              </a:tblGrid>
              <a:tr h="178602">
                <a:tc>
                  <a:txBody>
                    <a:bodyPr/>
                    <a:lstStyle/>
                    <a:p>
                      <a:pPr algn="ctr" fontAlgn="t"/>
                      <a:endParaRPr lang="en-SG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Step</a:t>
                      </a:r>
                      <a:endParaRPr lang="en-SG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</a:t>
                      </a:r>
                      <a:endParaRPr lang="en-SG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len</a:t>
                      </a:r>
                      <a:endParaRPr lang="en-SG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f(</a:t>
                      </a:r>
                      <a:r>
                        <a:rPr lang="en-US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</a:t>
                      </a: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endParaRPr lang="en-SG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66991392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t"/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381675622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t"/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97414913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t"/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  <a:endParaRPr lang="en-SG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en-SG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en-SG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en-SG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317718252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t"/>
                      <a:endParaRPr lang="en-SG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  <a:endParaRPr lang="en-SG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103584661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t"/>
                      <a:endParaRPr lang="en-SG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  <a:endParaRPr lang="en-SG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62805943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t"/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  <a:endParaRPr lang="en-SG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284332908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t"/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  <a:endParaRPr lang="en-SG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3971867638"/>
                  </a:ext>
                </a:extLst>
              </a:tr>
              <a:tr h="176463">
                <a:tc>
                  <a:txBody>
                    <a:bodyPr/>
                    <a:lstStyle/>
                    <a:p>
                      <a:pPr algn="ctr" fontAlgn="t"/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  <a:endParaRPr lang="en-SG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  <a:endParaRPr lang="en-SG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  <a:endParaRPr lang="en-SG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  <a:endParaRPr lang="en-SG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101438090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t"/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endParaRPr lang="en-SG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  <a:endParaRPr lang="en-SG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SG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SG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288280139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t"/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  <a:endParaRPr lang="en-SG" sz="16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endParaRPr lang="en-SG" sz="16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SG" sz="16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SG" sz="16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119262281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t"/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14000692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t"/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272832788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6150630-CB82-4DB8-B16D-C68AF5BB2AEC}"/>
              </a:ext>
            </a:extLst>
          </p:cNvPr>
          <p:cNvSpPr txBox="1"/>
          <p:nvPr/>
        </p:nvSpPr>
        <p:spPr>
          <a:xfrm>
            <a:off x="4182946" y="1719020"/>
            <a:ext cx="68900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f(</a:t>
            </a:r>
            <a:r>
              <a:rPr lang="en-US" dirty="0" err="1"/>
              <a:t>i</a:t>
            </a:r>
            <a:r>
              <a:rPr lang="en-US" dirty="0"/>
              <a:t>) is </a:t>
            </a:r>
            <a:r>
              <a:rPr lang="en-SG" dirty="0"/>
              <a:t>KMP Failure Function.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f(k) is defined as the length of the longest prefix of P that is a suffix of P[1:k+1] (note that we did not include P[0] here, since we will shift at least one unit).</a:t>
            </a:r>
            <a:r>
              <a:rPr lang="en-SG" dirty="0"/>
              <a:t> 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B48133C-705B-4E06-B500-9428BC492E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759855"/>
              </p:ext>
            </p:extLst>
          </p:nvPr>
        </p:nvGraphicFramePr>
        <p:xfrm>
          <a:off x="667753" y="838408"/>
          <a:ext cx="6890088" cy="5003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4174">
                  <a:extLst>
                    <a:ext uri="{9D8B030D-6E8A-4147-A177-3AD203B41FA5}">
                      <a16:colId xmlns:a16="http://schemas.microsoft.com/office/drawing/2014/main" val="1173631306"/>
                    </a:ext>
                  </a:extLst>
                </a:gridCol>
                <a:gridCol w="574174">
                  <a:extLst>
                    <a:ext uri="{9D8B030D-6E8A-4147-A177-3AD203B41FA5}">
                      <a16:colId xmlns:a16="http://schemas.microsoft.com/office/drawing/2014/main" val="308182348"/>
                    </a:ext>
                  </a:extLst>
                </a:gridCol>
                <a:gridCol w="574174">
                  <a:extLst>
                    <a:ext uri="{9D8B030D-6E8A-4147-A177-3AD203B41FA5}">
                      <a16:colId xmlns:a16="http://schemas.microsoft.com/office/drawing/2014/main" val="2745123873"/>
                    </a:ext>
                  </a:extLst>
                </a:gridCol>
                <a:gridCol w="574174">
                  <a:extLst>
                    <a:ext uri="{9D8B030D-6E8A-4147-A177-3AD203B41FA5}">
                      <a16:colId xmlns:a16="http://schemas.microsoft.com/office/drawing/2014/main" val="1997335637"/>
                    </a:ext>
                  </a:extLst>
                </a:gridCol>
                <a:gridCol w="574174">
                  <a:extLst>
                    <a:ext uri="{9D8B030D-6E8A-4147-A177-3AD203B41FA5}">
                      <a16:colId xmlns:a16="http://schemas.microsoft.com/office/drawing/2014/main" val="1193406613"/>
                    </a:ext>
                  </a:extLst>
                </a:gridCol>
                <a:gridCol w="574174">
                  <a:extLst>
                    <a:ext uri="{9D8B030D-6E8A-4147-A177-3AD203B41FA5}">
                      <a16:colId xmlns:a16="http://schemas.microsoft.com/office/drawing/2014/main" val="3995998538"/>
                    </a:ext>
                  </a:extLst>
                </a:gridCol>
                <a:gridCol w="574174">
                  <a:extLst>
                    <a:ext uri="{9D8B030D-6E8A-4147-A177-3AD203B41FA5}">
                      <a16:colId xmlns:a16="http://schemas.microsoft.com/office/drawing/2014/main" val="927068575"/>
                    </a:ext>
                  </a:extLst>
                </a:gridCol>
                <a:gridCol w="574174">
                  <a:extLst>
                    <a:ext uri="{9D8B030D-6E8A-4147-A177-3AD203B41FA5}">
                      <a16:colId xmlns:a16="http://schemas.microsoft.com/office/drawing/2014/main" val="3310283624"/>
                    </a:ext>
                  </a:extLst>
                </a:gridCol>
                <a:gridCol w="574174">
                  <a:extLst>
                    <a:ext uri="{9D8B030D-6E8A-4147-A177-3AD203B41FA5}">
                      <a16:colId xmlns:a16="http://schemas.microsoft.com/office/drawing/2014/main" val="3696460899"/>
                    </a:ext>
                  </a:extLst>
                </a:gridCol>
                <a:gridCol w="574174">
                  <a:extLst>
                    <a:ext uri="{9D8B030D-6E8A-4147-A177-3AD203B41FA5}">
                      <a16:colId xmlns:a16="http://schemas.microsoft.com/office/drawing/2014/main" val="1563715053"/>
                    </a:ext>
                  </a:extLst>
                </a:gridCol>
                <a:gridCol w="574174">
                  <a:extLst>
                    <a:ext uri="{9D8B030D-6E8A-4147-A177-3AD203B41FA5}">
                      <a16:colId xmlns:a16="http://schemas.microsoft.com/office/drawing/2014/main" val="3535178165"/>
                    </a:ext>
                  </a:extLst>
                </a:gridCol>
                <a:gridCol w="574174">
                  <a:extLst>
                    <a:ext uri="{9D8B030D-6E8A-4147-A177-3AD203B41FA5}">
                      <a16:colId xmlns:a16="http://schemas.microsoft.com/office/drawing/2014/main" val="4221968555"/>
                    </a:ext>
                  </a:extLst>
                </a:gridCol>
              </a:tblGrid>
              <a:tr h="164780"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0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1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2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3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>
                          <a:effectLst/>
                        </a:rPr>
                        <a:t>4</a:t>
                      </a:r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5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6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7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8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9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>
                          <a:effectLst/>
                        </a:rPr>
                        <a:t>10</a:t>
                      </a:r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>
                          <a:effectLst/>
                        </a:rPr>
                        <a:t>11</a:t>
                      </a:r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2939734255"/>
                  </a:ext>
                </a:extLst>
              </a:tr>
              <a:tr h="222255"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a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m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a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l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g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>
                          <a:effectLst/>
                        </a:rPr>
                        <a:t>a</a:t>
                      </a:r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m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a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t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i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o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n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33566822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CD5D574-59D8-43E2-8032-FBF2752AA1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1298589"/>
              </p:ext>
            </p:extLst>
          </p:nvPr>
        </p:nvGraphicFramePr>
        <p:xfrm>
          <a:off x="5552421" y="3679813"/>
          <a:ext cx="574174" cy="5003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4174">
                  <a:extLst>
                    <a:ext uri="{9D8B030D-6E8A-4147-A177-3AD203B41FA5}">
                      <a16:colId xmlns:a16="http://schemas.microsoft.com/office/drawing/2014/main" val="3480185814"/>
                    </a:ext>
                  </a:extLst>
                </a:gridCol>
              </a:tblGrid>
              <a:tr h="164780"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0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701389030"/>
                  </a:ext>
                </a:extLst>
              </a:tr>
              <a:tr h="222255"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a</a:t>
                      </a:r>
                      <a:endParaRPr lang="en-SG" sz="16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3982852769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CE84CB56-3AA8-48F3-ABF8-7AA4883DD8C2}"/>
              </a:ext>
            </a:extLst>
          </p:cNvPr>
          <p:cNvSpPr txBox="1"/>
          <p:nvPr/>
        </p:nvSpPr>
        <p:spPr>
          <a:xfrm>
            <a:off x="4401584" y="3114915"/>
            <a:ext cx="96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Step 10:</a:t>
            </a:r>
            <a:endParaRPr lang="en-SG" b="1" dirty="0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632041EE-5258-45FB-A6CA-77A85F296A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5568922"/>
              </p:ext>
            </p:extLst>
          </p:nvPr>
        </p:nvGraphicFramePr>
        <p:xfrm>
          <a:off x="5521826" y="4440277"/>
          <a:ext cx="574174" cy="5003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4174">
                  <a:extLst>
                    <a:ext uri="{9D8B030D-6E8A-4147-A177-3AD203B41FA5}">
                      <a16:colId xmlns:a16="http://schemas.microsoft.com/office/drawing/2014/main" val="2733258623"/>
                    </a:ext>
                  </a:extLst>
                </a:gridCol>
              </a:tblGrid>
              <a:tr h="164780"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9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29385955"/>
                  </a:ext>
                </a:extLst>
              </a:tr>
              <a:tr h="222255"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i</a:t>
                      </a:r>
                      <a:endParaRPr lang="en-SG" sz="16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722679174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7C4BF0D3-9366-464F-B72F-8675F4A21F98}"/>
              </a:ext>
            </a:extLst>
          </p:cNvPr>
          <p:cNvSpPr txBox="1"/>
          <p:nvPr/>
        </p:nvSpPr>
        <p:spPr>
          <a:xfrm>
            <a:off x="4407158" y="3679813"/>
            <a:ext cx="955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Prefix</a:t>
            </a:r>
            <a:endParaRPr lang="en-SG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D3202F5-62CC-49E8-AE38-FA6D8DFA6199}"/>
              </a:ext>
            </a:extLst>
          </p:cNvPr>
          <p:cNvSpPr txBox="1"/>
          <p:nvPr/>
        </p:nvSpPr>
        <p:spPr>
          <a:xfrm>
            <a:off x="4407158" y="4526501"/>
            <a:ext cx="955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Subfix</a:t>
            </a:r>
            <a:endParaRPr lang="en-SG" dirty="0"/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AE705D3C-A660-42F9-BD3D-3697EB5325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2809170"/>
              </p:ext>
            </p:extLst>
          </p:nvPr>
        </p:nvGraphicFramePr>
        <p:xfrm>
          <a:off x="6615977" y="4460977"/>
          <a:ext cx="574174" cy="5003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4174">
                  <a:extLst>
                    <a:ext uri="{9D8B030D-6E8A-4147-A177-3AD203B41FA5}">
                      <a16:colId xmlns:a16="http://schemas.microsoft.com/office/drawing/2014/main" val="2733258623"/>
                    </a:ext>
                  </a:extLst>
                </a:gridCol>
              </a:tblGrid>
              <a:tr h="164780"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9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29385955"/>
                  </a:ext>
                </a:extLst>
              </a:tr>
              <a:tr h="222255"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i</a:t>
                      </a:r>
                      <a:endParaRPr lang="en-SG" sz="16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7226791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7873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6F94BA-3F0B-4974-842B-392FE8D9E6F1}"/>
              </a:ext>
            </a:extLst>
          </p:cNvPr>
          <p:cNvSpPr txBox="1"/>
          <p:nvPr/>
        </p:nvSpPr>
        <p:spPr>
          <a:xfrm flipH="1">
            <a:off x="878840" y="317515"/>
            <a:ext cx="3080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Pattern</a:t>
            </a:r>
            <a:endParaRPr lang="en-SG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81BD0C5-6814-4DEE-B94B-B250CA00BE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5452663"/>
              </p:ext>
            </p:extLst>
          </p:nvPr>
        </p:nvGraphicFramePr>
        <p:xfrm>
          <a:off x="601713" y="1703291"/>
          <a:ext cx="3092450" cy="32524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450">
                  <a:extLst>
                    <a:ext uri="{9D8B030D-6E8A-4147-A177-3AD203B41FA5}">
                      <a16:colId xmlns:a16="http://schemas.microsoft.com/office/drawing/2014/main" val="178875488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03505287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00500881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75437024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5416658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21185264"/>
                    </a:ext>
                  </a:extLst>
                </a:gridCol>
              </a:tblGrid>
              <a:tr h="178602">
                <a:tc>
                  <a:txBody>
                    <a:bodyPr/>
                    <a:lstStyle/>
                    <a:p>
                      <a:pPr algn="ctr" fontAlgn="t"/>
                      <a:endParaRPr lang="en-SG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Step</a:t>
                      </a:r>
                      <a:endParaRPr lang="en-SG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</a:t>
                      </a:r>
                      <a:endParaRPr lang="en-SG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len</a:t>
                      </a:r>
                      <a:endParaRPr lang="en-SG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f(</a:t>
                      </a:r>
                      <a:r>
                        <a:rPr lang="en-US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</a:t>
                      </a: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endParaRPr lang="en-SG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66991392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t"/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381675622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t"/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97414913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t"/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  <a:endParaRPr lang="en-SG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en-SG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en-SG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en-SG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317718252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t"/>
                      <a:endParaRPr lang="en-SG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  <a:endParaRPr lang="en-SG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103584661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t"/>
                      <a:endParaRPr lang="en-SG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  <a:endParaRPr lang="en-SG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62805943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t"/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  <a:endParaRPr lang="en-SG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284332908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t"/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  <a:endParaRPr lang="en-SG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3971867638"/>
                  </a:ext>
                </a:extLst>
              </a:tr>
              <a:tr h="176463">
                <a:tc>
                  <a:txBody>
                    <a:bodyPr/>
                    <a:lstStyle/>
                    <a:p>
                      <a:pPr algn="ctr" fontAlgn="t"/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  <a:endParaRPr lang="en-SG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  <a:endParaRPr lang="en-SG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  <a:endParaRPr lang="en-SG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  <a:endParaRPr lang="en-SG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101438090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t"/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endParaRPr lang="en-SG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  <a:endParaRPr lang="en-SG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SG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SG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288280139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t"/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  <a:endParaRPr lang="en-SG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endParaRPr lang="en-SG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SG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SG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119262281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t"/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  <a:endParaRPr lang="en-SG" sz="16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  <a:endParaRPr lang="en-SG" sz="16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SG" sz="16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SG" sz="16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14000692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t"/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  <a:endParaRPr lang="en-SG" sz="16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  <a:endParaRPr lang="en-SG" sz="16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SG" sz="16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SG" sz="16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272832788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6150630-CB82-4DB8-B16D-C68AF5BB2AEC}"/>
              </a:ext>
            </a:extLst>
          </p:cNvPr>
          <p:cNvSpPr txBox="1"/>
          <p:nvPr/>
        </p:nvSpPr>
        <p:spPr>
          <a:xfrm>
            <a:off x="4182946" y="1719020"/>
            <a:ext cx="68900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f(</a:t>
            </a:r>
            <a:r>
              <a:rPr lang="en-US" dirty="0" err="1"/>
              <a:t>i</a:t>
            </a:r>
            <a:r>
              <a:rPr lang="en-US" dirty="0"/>
              <a:t>) is </a:t>
            </a:r>
            <a:r>
              <a:rPr lang="en-SG" dirty="0"/>
              <a:t>KMP Failure Function.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f(k) is defined as the length of the longest prefix of P that is a suffix of P[1:k+1] (note that we did not include P[0] here, since we will shift at least one unit).</a:t>
            </a:r>
            <a:r>
              <a:rPr lang="en-SG" dirty="0"/>
              <a:t> 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B48133C-705B-4E06-B500-9428BC492E6D}"/>
              </a:ext>
            </a:extLst>
          </p:cNvPr>
          <p:cNvGraphicFramePr>
            <a:graphicFrameLocks noGrp="1"/>
          </p:cNvGraphicFramePr>
          <p:nvPr/>
        </p:nvGraphicFramePr>
        <p:xfrm>
          <a:off x="667753" y="838408"/>
          <a:ext cx="6890088" cy="5003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4174">
                  <a:extLst>
                    <a:ext uri="{9D8B030D-6E8A-4147-A177-3AD203B41FA5}">
                      <a16:colId xmlns:a16="http://schemas.microsoft.com/office/drawing/2014/main" val="1173631306"/>
                    </a:ext>
                  </a:extLst>
                </a:gridCol>
                <a:gridCol w="574174">
                  <a:extLst>
                    <a:ext uri="{9D8B030D-6E8A-4147-A177-3AD203B41FA5}">
                      <a16:colId xmlns:a16="http://schemas.microsoft.com/office/drawing/2014/main" val="308182348"/>
                    </a:ext>
                  </a:extLst>
                </a:gridCol>
                <a:gridCol w="574174">
                  <a:extLst>
                    <a:ext uri="{9D8B030D-6E8A-4147-A177-3AD203B41FA5}">
                      <a16:colId xmlns:a16="http://schemas.microsoft.com/office/drawing/2014/main" val="2745123873"/>
                    </a:ext>
                  </a:extLst>
                </a:gridCol>
                <a:gridCol w="574174">
                  <a:extLst>
                    <a:ext uri="{9D8B030D-6E8A-4147-A177-3AD203B41FA5}">
                      <a16:colId xmlns:a16="http://schemas.microsoft.com/office/drawing/2014/main" val="1997335637"/>
                    </a:ext>
                  </a:extLst>
                </a:gridCol>
                <a:gridCol w="574174">
                  <a:extLst>
                    <a:ext uri="{9D8B030D-6E8A-4147-A177-3AD203B41FA5}">
                      <a16:colId xmlns:a16="http://schemas.microsoft.com/office/drawing/2014/main" val="1193406613"/>
                    </a:ext>
                  </a:extLst>
                </a:gridCol>
                <a:gridCol w="574174">
                  <a:extLst>
                    <a:ext uri="{9D8B030D-6E8A-4147-A177-3AD203B41FA5}">
                      <a16:colId xmlns:a16="http://schemas.microsoft.com/office/drawing/2014/main" val="3995998538"/>
                    </a:ext>
                  </a:extLst>
                </a:gridCol>
                <a:gridCol w="574174">
                  <a:extLst>
                    <a:ext uri="{9D8B030D-6E8A-4147-A177-3AD203B41FA5}">
                      <a16:colId xmlns:a16="http://schemas.microsoft.com/office/drawing/2014/main" val="927068575"/>
                    </a:ext>
                  </a:extLst>
                </a:gridCol>
                <a:gridCol w="574174">
                  <a:extLst>
                    <a:ext uri="{9D8B030D-6E8A-4147-A177-3AD203B41FA5}">
                      <a16:colId xmlns:a16="http://schemas.microsoft.com/office/drawing/2014/main" val="3310283624"/>
                    </a:ext>
                  </a:extLst>
                </a:gridCol>
                <a:gridCol w="574174">
                  <a:extLst>
                    <a:ext uri="{9D8B030D-6E8A-4147-A177-3AD203B41FA5}">
                      <a16:colId xmlns:a16="http://schemas.microsoft.com/office/drawing/2014/main" val="3696460899"/>
                    </a:ext>
                  </a:extLst>
                </a:gridCol>
                <a:gridCol w="574174">
                  <a:extLst>
                    <a:ext uri="{9D8B030D-6E8A-4147-A177-3AD203B41FA5}">
                      <a16:colId xmlns:a16="http://schemas.microsoft.com/office/drawing/2014/main" val="1563715053"/>
                    </a:ext>
                  </a:extLst>
                </a:gridCol>
                <a:gridCol w="574174">
                  <a:extLst>
                    <a:ext uri="{9D8B030D-6E8A-4147-A177-3AD203B41FA5}">
                      <a16:colId xmlns:a16="http://schemas.microsoft.com/office/drawing/2014/main" val="3535178165"/>
                    </a:ext>
                  </a:extLst>
                </a:gridCol>
                <a:gridCol w="574174">
                  <a:extLst>
                    <a:ext uri="{9D8B030D-6E8A-4147-A177-3AD203B41FA5}">
                      <a16:colId xmlns:a16="http://schemas.microsoft.com/office/drawing/2014/main" val="4221968555"/>
                    </a:ext>
                  </a:extLst>
                </a:gridCol>
              </a:tblGrid>
              <a:tr h="164780"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0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1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2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3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>
                          <a:effectLst/>
                        </a:rPr>
                        <a:t>4</a:t>
                      </a:r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5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6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7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8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9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>
                          <a:effectLst/>
                        </a:rPr>
                        <a:t>10</a:t>
                      </a:r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>
                          <a:effectLst/>
                        </a:rPr>
                        <a:t>11</a:t>
                      </a:r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2939734255"/>
                  </a:ext>
                </a:extLst>
              </a:tr>
              <a:tr h="222255"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a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m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a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l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g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>
                          <a:effectLst/>
                        </a:rPr>
                        <a:t>a</a:t>
                      </a:r>
                      <a:endParaRPr lang="en-SG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m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a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t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i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o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600" u="none" strike="noStrike" dirty="0">
                          <a:effectLst/>
                        </a:rPr>
                        <a:t>n</a:t>
                      </a:r>
                      <a:endParaRPr lang="en-SG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3356682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5859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D0EF3FA-B1AD-4BB3-9783-1D61EABC2C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560459"/>
              </p:ext>
            </p:extLst>
          </p:nvPr>
        </p:nvGraphicFramePr>
        <p:xfrm>
          <a:off x="924828" y="781340"/>
          <a:ext cx="10515600" cy="529531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0624">
                  <a:extLst>
                    <a:ext uri="{9D8B030D-6E8A-4147-A177-3AD203B41FA5}">
                      <a16:colId xmlns:a16="http://schemas.microsoft.com/office/drawing/2014/main" val="2800299948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3676713274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2547776017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1616173166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2015382398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3972340791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4111899759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1047520742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1759671578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1449915402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4120530172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2424985553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1493662995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1225820843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1350656290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723729828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617691447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2950930082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3254893934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186058647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3168833070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2161785594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1344380334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4253225853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2192754943"/>
                    </a:ext>
                  </a:extLst>
                </a:gridCol>
              </a:tblGrid>
              <a:tr h="127063"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0</a:t>
                      </a:r>
                      <a:endParaRPr lang="en-SG" sz="18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u="none" strike="noStrike">
                          <a:solidFill>
                            <a:srgbClr val="0070C0"/>
                          </a:solidFill>
                          <a:effectLst/>
                        </a:rPr>
                        <a:t>1</a:t>
                      </a:r>
                      <a:endParaRPr lang="en-SG" sz="18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u="none" strike="noStrike">
                          <a:solidFill>
                            <a:srgbClr val="0070C0"/>
                          </a:solidFill>
                          <a:effectLst/>
                        </a:rPr>
                        <a:t>2</a:t>
                      </a:r>
                      <a:endParaRPr lang="en-SG" sz="18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u="none" strike="noStrike">
                          <a:solidFill>
                            <a:srgbClr val="0070C0"/>
                          </a:solidFill>
                          <a:effectLst/>
                        </a:rPr>
                        <a:t>3</a:t>
                      </a:r>
                      <a:endParaRPr lang="en-SG" sz="18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4</a:t>
                      </a:r>
                      <a:endParaRPr lang="en-SG" sz="18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u="none" strike="noStrike">
                          <a:solidFill>
                            <a:srgbClr val="0070C0"/>
                          </a:solidFill>
                          <a:effectLst/>
                        </a:rPr>
                        <a:t>5</a:t>
                      </a:r>
                      <a:endParaRPr lang="en-SG" sz="18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u="none" strike="noStrike">
                          <a:solidFill>
                            <a:srgbClr val="0070C0"/>
                          </a:solidFill>
                          <a:effectLst/>
                        </a:rPr>
                        <a:t>6</a:t>
                      </a:r>
                      <a:endParaRPr lang="en-SG" sz="18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u="none" strike="noStrike">
                          <a:solidFill>
                            <a:srgbClr val="0070C0"/>
                          </a:solidFill>
                          <a:effectLst/>
                        </a:rPr>
                        <a:t>7</a:t>
                      </a:r>
                      <a:endParaRPr lang="en-SG" sz="18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u="none" strike="noStrike">
                          <a:solidFill>
                            <a:srgbClr val="0070C0"/>
                          </a:solidFill>
                          <a:effectLst/>
                        </a:rPr>
                        <a:t>8</a:t>
                      </a:r>
                      <a:endParaRPr lang="en-SG" sz="18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u="none" strike="noStrike">
                          <a:solidFill>
                            <a:srgbClr val="0070C0"/>
                          </a:solidFill>
                          <a:effectLst/>
                        </a:rPr>
                        <a:t>9</a:t>
                      </a:r>
                      <a:endParaRPr lang="en-SG" sz="18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10</a:t>
                      </a:r>
                      <a:endParaRPr lang="en-SG" sz="18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u="none" strike="noStrike">
                          <a:solidFill>
                            <a:srgbClr val="0070C0"/>
                          </a:solidFill>
                          <a:effectLst/>
                        </a:rPr>
                        <a:t>11</a:t>
                      </a:r>
                      <a:endParaRPr lang="en-SG" sz="18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u="none" strike="noStrike">
                          <a:solidFill>
                            <a:srgbClr val="0070C0"/>
                          </a:solidFill>
                          <a:effectLst/>
                        </a:rPr>
                        <a:t>12</a:t>
                      </a:r>
                      <a:endParaRPr lang="en-SG" sz="18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13</a:t>
                      </a:r>
                      <a:endParaRPr lang="en-SG" sz="18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u="none" strike="noStrike">
                          <a:solidFill>
                            <a:srgbClr val="0070C0"/>
                          </a:solidFill>
                          <a:effectLst/>
                        </a:rPr>
                        <a:t>14</a:t>
                      </a:r>
                      <a:endParaRPr lang="en-SG" sz="18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15</a:t>
                      </a:r>
                      <a:endParaRPr lang="en-SG" sz="18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16</a:t>
                      </a:r>
                      <a:endParaRPr lang="en-SG" sz="18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u="none" strike="noStrike">
                          <a:solidFill>
                            <a:srgbClr val="0070C0"/>
                          </a:solidFill>
                          <a:effectLst/>
                        </a:rPr>
                        <a:t>17</a:t>
                      </a:r>
                      <a:endParaRPr lang="en-SG" sz="18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18</a:t>
                      </a:r>
                      <a:endParaRPr lang="en-SG" sz="18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19</a:t>
                      </a:r>
                      <a:endParaRPr lang="en-SG" sz="18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20</a:t>
                      </a:r>
                      <a:endParaRPr lang="en-SG" sz="18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u="none" strike="noStrike">
                          <a:solidFill>
                            <a:srgbClr val="0070C0"/>
                          </a:solidFill>
                          <a:effectLst/>
                        </a:rPr>
                        <a:t>21</a:t>
                      </a:r>
                      <a:endParaRPr lang="en-SG" sz="18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22</a:t>
                      </a:r>
                      <a:endParaRPr lang="en-SG" sz="18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23</a:t>
                      </a:r>
                      <a:endParaRPr lang="en-SG" sz="18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24</a:t>
                      </a:r>
                      <a:endParaRPr lang="en-SG" sz="18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extLst>
                  <a:ext uri="{0D108BD9-81ED-4DB2-BD59-A6C34878D82A}">
                    <a16:rowId xmlns:a16="http://schemas.microsoft.com/office/drawing/2014/main" val="2372640991"/>
                  </a:ext>
                </a:extLst>
              </a:tr>
              <a:tr h="127063"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u="none" strike="noStrike" dirty="0">
                          <a:effectLst/>
                        </a:rPr>
                        <a:t>a</a:t>
                      </a:r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u="none" strike="noStrike" dirty="0">
                          <a:effectLst/>
                        </a:rPr>
                        <a:t>t</a:t>
                      </a:r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u="none" strike="noStrike" dirty="0">
                          <a:effectLst/>
                        </a:rPr>
                        <a:t>c</a:t>
                      </a:r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u="none" strike="noStrike" dirty="0">
                          <a:effectLst/>
                        </a:rPr>
                        <a:t>a</a:t>
                      </a:r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u="none" strike="noStrike" dirty="0">
                          <a:effectLst/>
                        </a:rPr>
                        <a:t>m</a:t>
                      </a:r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u="none" strike="noStrike" dirty="0">
                          <a:effectLst/>
                        </a:rPr>
                        <a:t>a</a:t>
                      </a:r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u="none" strike="noStrike" dirty="0">
                          <a:effectLst/>
                        </a:rPr>
                        <a:t>l</a:t>
                      </a:r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u="none" strike="noStrike" dirty="0">
                          <a:effectLst/>
                        </a:rPr>
                        <a:t>g</a:t>
                      </a:r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u="none" strike="noStrike" dirty="0">
                          <a:effectLst/>
                        </a:rPr>
                        <a:t>a</a:t>
                      </a:r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u="none" strike="noStrike" dirty="0">
                          <a:effectLst/>
                        </a:rPr>
                        <a:t>m</a:t>
                      </a:r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u="none" strike="noStrike" dirty="0">
                          <a:effectLst/>
                        </a:rPr>
                        <a:t>a</a:t>
                      </a:r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u="none" strike="noStrike" dirty="0">
                          <a:effectLst/>
                        </a:rPr>
                        <a:t>x</a:t>
                      </a:r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u="none" strike="noStrike" dirty="0">
                          <a:effectLst/>
                        </a:rPr>
                        <a:t>y</a:t>
                      </a:r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u="none" strike="noStrike" dirty="0">
                          <a:effectLst/>
                        </a:rPr>
                        <a:t>a</a:t>
                      </a:r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u="none" strike="noStrike" dirty="0">
                          <a:effectLst/>
                        </a:rPr>
                        <a:t>m</a:t>
                      </a:r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u="none" strike="noStrike" dirty="0">
                          <a:effectLst/>
                        </a:rPr>
                        <a:t>a</a:t>
                      </a:r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u="none" strike="noStrike" dirty="0">
                          <a:effectLst/>
                        </a:rPr>
                        <a:t>l</a:t>
                      </a:r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u="none" strike="noStrike" dirty="0">
                          <a:effectLst/>
                        </a:rPr>
                        <a:t>g</a:t>
                      </a:r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u="none" strike="noStrike" dirty="0">
                          <a:effectLst/>
                        </a:rPr>
                        <a:t>a</a:t>
                      </a:r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u="none" strike="noStrike" dirty="0">
                          <a:effectLst/>
                        </a:rPr>
                        <a:t>m</a:t>
                      </a:r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u="none" strike="noStrike" dirty="0">
                          <a:effectLst/>
                        </a:rPr>
                        <a:t>a</a:t>
                      </a:r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u="none" strike="noStrike" dirty="0">
                          <a:effectLst/>
                        </a:rPr>
                        <a:t>t</a:t>
                      </a:r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u="none" strike="noStrike" dirty="0">
                          <a:effectLst/>
                        </a:rPr>
                        <a:t>i</a:t>
                      </a:r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u="none" strike="noStrike" dirty="0">
                          <a:effectLst/>
                        </a:rPr>
                        <a:t>o</a:t>
                      </a:r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u="none" strike="noStrike" dirty="0">
                          <a:effectLst/>
                        </a:rPr>
                        <a:t>n</a:t>
                      </a:r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extLst>
                  <a:ext uri="{0D108BD9-81ED-4DB2-BD59-A6C34878D82A}">
                    <a16:rowId xmlns:a16="http://schemas.microsoft.com/office/drawing/2014/main" val="889448770"/>
                  </a:ext>
                </a:extLst>
              </a:tr>
              <a:tr h="127063"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u="none" strike="noStrike" dirty="0">
                          <a:solidFill>
                            <a:srgbClr val="00B050"/>
                          </a:solidFill>
                          <a:effectLst/>
                        </a:rPr>
                        <a:t>a</a:t>
                      </a:r>
                      <a:endParaRPr lang="en-SG" sz="18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u="none" strike="noStrike" dirty="0">
                          <a:solidFill>
                            <a:srgbClr val="00B050"/>
                          </a:solidFill>
                          <a:effectLst/>
                        </a:rPr>
                        <a:t>m</a:t>
                      </a:r>
                      <a:endParaRPr lang="en-SG" sz="18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u="none" strike="noStrike" dirty="0">
                          <a:solidFill>
                            <a:srgbClr val="00B050"/>
                          </a:solidFill>
                          <a:effectLst/>
                        </a:rPr>
                        <a:t>a</a:t>
                      </a:r>
                      <a:endParaRPr lang="en-SG" sz="18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u="none" strike="noStrike" dirty="0">
                          <a:effectLst/>
                        </a:rPr>
                        <a:t>l</a:t>
                      </a:r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u="none" strike="noStrike" dirty="0">
                          <a:effectLst/>
                        </a:rPr>
                        <a:t>g</a:t>
                      </a:r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a</a:t>
                      </a:r>
                      <a:endParaRPr lang="en-SG" sz="18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m</a:t>
                      </a:r>
                      <a:endParaRPr lang="en-SG" sz="18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a</a:t>
                      </a:r>
                      <a:endParaRPr lang="en-SG" sz="18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t</a:t>
                      </a:r>
                      <a:endParaRPr lang="en-SG" sz="18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u="none" strike="noStrike" dirty="0">
                          <a:effectLst/>
                        </a:rPr>
                        <a:t>i</a:t>
                      </a:r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u="none" strike="noStrike" dirty="0">
                          <a:effectLst/>
                        </a:rPr>
                        <a:t>o</a:t>
                      </a:r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u="none" strike="noStrike" dirty="0">
                          <a:effectLst/>
                        </a:rPr>
                        <a:t>n</a:t>
                      </a:r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extLst>
                  <a:ext uri="{0D108BD9-81ED-4DB2-BD59-A6C34878D82A}">
                    <a16:rowId xmlns:a16="http://schemas.microsoft.com/office/drawing/2014/main" val="1072868071"/>
                  </a:ext>
                </a:extLst>
              </a:tr>
              <a:tr h="127063"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u="none" strike="noStrike" dirty="0">
                          <a:solidFill>
                            <a:srgbClr val="00B050"/>
                          </a:solidFill>
                          <a:effectLst/>
                        </a:rPr>
                        <a:t>a</a:t>
                      </a:r>
                      <a:endParaRPr lang="en-SG" sz="18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m</a:t>
                      </a:r>
                      <a:endParaRPr lang="en-SG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a</a:t>
                      </a:r>
                      <a:endParaRPr lang="en-SG" sz="18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l</a:t>
                      </a:r>
                      <a:endParaRPr lang="en-SG" sz="18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u="none" strike="noStrike" dirty="0">
                          <a:effectLst/>
                        </a:rPr>
                        <a:t>g</a:t>
                      </a:r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en-SG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m</a:t>
                      </a:r>
                      <a:endParaRPr lang="en-SG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en-SG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endParaRPr lang="en-SG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u="none" strike="noStrike" dirty="0">
                          <a:effectLst/>
                        </a:rPr>
                        <a:t>i</a:t>
                      </a:r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u="none" strike="noStrike" dirty="0">
                          <a:effectLst/>
                        </a:rPr>
                        <a:t>o</a:t>
                      </a:r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u="none" strike="noStrike" dirty="0">
                          <a:effectLst/>
                        </a:rPr>
                        <a:t>n</a:t>
                      </a:r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extLst>
                  <a:ext uri="{0D108BD9-81ED-4DB2-BD59-A6C34878D82A}">
                    <a16:rowId xmlns:a16="http://schemas.microsoft.com/office/drawing/2014/main" val="315878525"/>
                  </a:ext>
                </a:extLst>
              </a:tr>
              <a:tr h="228522"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u="none" strike="noStrike" dirty="0">
                          <a:solidFill>
                            <a:srgbClr val="00B050"/>
                          </a:solidFill>
                          <a:effectLst/>
                        </a:rPr>
                        <a:t>a</a:t>
                      </a:r>
                      <a:endParaRPr lang="en-SG" sz="18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m</a:t>
                      </a:r>
                      <a:endParaRPr lang="en-SG" sz="18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en-SG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l</a:t>
                      </a:r>
                      <a:endParaRPr lang="en-SG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g</a:t>
                      </a:r>
                      <a:endParaRPr lang="en-SG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en-SG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m</a:t>
                      </a:r>
                      <a:endParaRPr lang="en-SG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en-SG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endParaRPr lang="en-SG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i</a:t>
                      </a:r>
                      <a:endParaRPr lang="en-SG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o</a:t>
                      </a:r>
                      <a:endParaRPr lang="en-SG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n</a:t>
                      </a:r>
                      <a:endParaRPr lang="en-SG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extLst>
                  <a:ext uri="{0D108BD9-81ED-4DB2-BD59-A6C34878D82A}">
                    <a16:rowId xmlns:a16="http://schemas.microsoft.com/office/drawing/2014/main" val="1739277294"/>
                  </a:ext>
                </a:extLst>
              </a:tr>
              <a:tr h="243997"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a</a:t>
                      </a:r>
                      <a:endParaRPr lang="en-SG" sz="18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m</a:t>
                      </a:r>
                      <a:endParaRPr lang="en-SG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en-SG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l</a:t>
                      </a:r>
                      <a:endParaRPr lang="en-SG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g</a:t>
                      </a:r>
                      <a:endParaRPr lang="en-SG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en-SG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m</a:t>
                      </a:r>
                      <a:endParaRPr lang="en-SG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en-SG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endParaRPr lang="en-SG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i</a:t>
                      </a:r>
                      <a:endParaRPr lang="en-SG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o</a:t>
                      </a:r>
                      <a:endParaRPr lang="en-SG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n</a:t>
                      </a:r>
                      <a:endParaRPr lang="en-SG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extLst>
                  <a:ext uri="{0D108BD9-81ED-4DB2-BD59-A6C34878D82A}">
                    <a16:rowId xmlns:a16="http://schemas.microsoft.com/office/drawing/2014/main" val="1584494993"/>
                  </a:ext>
                </a:extLst>
              </a:tr>
              <a:tr h="127063"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a</a:t>
                      </a:r>
                      <a:endParaRPr lang="en-SG" sz="18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m</a:t>
                      </a:r>
                      <a:endParaRPr lang="en-SG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en-SG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l</a:t>
                      </a:r>
                      <a:endParaRPr lang="en-SG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g</a:t>
                      </a:r>
                      <a:endParaRPr lang="en-SG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en-SG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m</a:t>
                      </a:r>
                      <a:endParaRPr lang="en-SG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en-SG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endParaRPr lang="en-SG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i</a:t>
                      </a:r>
                      <a:endParaRPr lang="en-SG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o</a:t>
                      </a:r>
                      <a:endParaRPr lang="en-SG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n</a:t>
                      </a:r>
                      <a:endParaRPr lang="en-SG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extLst>
                  <a:ext uri="{0D108BD9-81ED-4DB2-BD59-A6C34878D82A}">
                    <a16:rowId xmlns:a16="http://schemas.microsoft.com/office/drawing/2014/main" val="1237518503"/>
                  </a:ext>
                </a:extLst>
              </a:tr>
              <a:tr h="127063"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en-SG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m</a:t>
                      </a:r>
                      <a:endParaRPr lang="en-SG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en-SG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l</a:t>
                      </a:r>
                      <a:endParaRPr lang="en-SG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g</a:t>
                      </a:r>
                      <a:endParaRPr lang="en-SG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en-SG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m</a:t>
                      </a:r>
                      <a:endParaRPr lang="en-SG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en-SG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endParaRPr lang="en-SG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i</a:t>
                      </a:r>
                      <a:endParaRPr lang="en-SG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o</a:t>
                      </a:r>
                      <a:endParaRPr lang="en-SG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n</a:t>
                      </a:r>
                      <a:endParaRPr lang="en-SG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extLst>
                  <a:ext uri="{0D108BD9-81ED-4DB2-BD59-A6C34878D82A}">
                    <a16:rowId xmlns:a16="http://schemas.microsoft.com/office/drawing/2014/main" val="4264232683"/>
                  </a:ext>
                </a:extLst>
              </a:tr>
              <a:tr h="127063"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extLst>
                  <a:ext uri="{0D108BD9-81ED-4DB2-BD59-A6C34878D82A}">
                    <a16:rowId xmlns:a16="http://schemas.microsoft.com/office/drawing/2014/main" val="1710639787"/>
                  </a:ext>
                </a:extLst>
              </a:tr>
              <a:tr h="127063"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extLst>
                  <a:ext uri="{0D108BD9-81ED-4DB2-BD59-A6C34878D82A}">
                    <a16:rowId xmlns:a16="http://schemas.microsoft.com/office/drawing/2014/main" val="4042232497"/>
                  </a:ext>
                </a:extLst>
              </a:tr>
              <a:tr h="127063"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extLst>
                  <a:ext uri="{0D108BD9-81ED-4DB2-BD59-A6C34878D82A}">
                    <a16:rowId xmlns:a16="http://schemas.microsoft.com/office/drawing/2014/main" val="2742288309"/>
                  </a:ext>
                </a:extLst>
              </a:tr>
              <a:tr h="127063"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extLst>
                  <a:ext uri="{0D108BD9-81ED-4DB2-BD59-A6C34878D82A}">
                    <a16:rowId xmlns:a16="http://schemas.microsoft.com/office/drawing/2014/main" val="1640119275"/>
                  </a:ext>
                </a:extLst>
              </a:tr>
              <a:tr h="127063"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extLst>
                  <a:ext uri="{0D108BD9-81ED-4DB2-BD59-A6C34878D82A}">
                    <a16:rowId xmlns:a16="http://schemas.microsoft.com/office/drawing/2014/main" val="18402177"/>
                  </a:ext>
                </a:extLst>
              </a:tr>
              <a:tr h="127063"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extLst>
                  <a:ext uri="{0D108BD9-81ED-4DB2-BD59-A6C34878D82A}">
                    <a16:rowId xmlns:a16="http://schemas.microsoft.com/office/drawing/2014/main" val="2411369899"/>
                  </a:ext>
                </a:extLst>
              </a:tr>
              <a:tr h="127063"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extLst>
                  <a:ext uri="{0D108BD9-81ED-4DB2-BD59-A6C34878D82A}">
                    <a16:rowId xmlns:a16="http://schemas.microsoft.com/office/drawing/2014/main" val="1271695964"/>
                  </a:ext>
                </a:extLst>
              </a:tr>
              <a:tr h="127063"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extLst>
                  <a:ext uri="{0D108BD9-81ED-4DB2-BD59-A6C34878D82A}">
                    <a16:rowId xmlns:a16="http://schemas.microsoft.com/office/drawing/2014/main" val="3085426277"/>
                  </a:ext>
                </a:extLst>
              </a:tr>
              <a:tr h="127063"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extLst>
                  <a:ext uri="{0D108BD9-81ED-4DB2-BD59-A6C34878D82A}">
                    <a16:rowId xmlns:a16="http://schemas.microsoft.com/office/drawing/2014/main" val="148373385"/>
                  </a:ext>
                </a:extLst>
              </a:tr>
              <a:tr h="127063"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extLst>
                  <a:ext uri="{0D108BD9-81ED-4DB2-BD59-A6C34878D82A}">
                    <a16:rowId xmlns:a16="http://schemas.microsoft.com/office/drawing/2014/main" val="1536512572"/>
                  </a:ext>
                </a:extLst>
              </a:tr>
              <a:tr h="127063"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81" marR="4381" marT="4381" marB="0" anchor="b"/>
                </a:tc>
                <a:extLst>
                  <a:ext uri="{0D108BD9-81ED-4DB2-BD59-A6C34878D82A}">
                    <a16:rowId xmlns:a16="http://schemas.microsoft.com/office/drawing/2014/main" val="397629871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7AA98F8B-79E9-44B9-B666-9531B470A125}"/>
              </a:ext>
            </a:extLst>
          </p:cNvPr>
          <p:cNvSpPr/>
          <p:nvPr/>
        </p:nvSpPr>
        <p:spPr>
          <a:xfrm>
            <a:off x="2194560" y="1330960"/>
            <a:ext cx="3342640" cy="274320"/>
          </a:xfrm>
          <a:prstGeom prst="rect">
            <a:avLst/>
          </a:prstGeom>
          <a:solidFill>
            <a:srgbClr val="FFFF00">
              <a:alpha val="2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8AE0CF-0957-4421-8ED8-0A66C083BC89}"/>
              </a:ext>
            </a:extLst>
          </p:cNvPr>
          <p:cNvSpPr/>
          <p:nvPr/>
        </p:nvSpPr>
        <p:spPr>
          <a:xfrm>
            <a:off x="4318000" y="1610360"/>
            <a:ext cx="1219200" cy="274320"/>
          </a:xfrm>
          <a:prstGeom prst="rect">
            <a:avLst/>
          </a:prstGeom>
          <a:solidFill>
            <a:srgbClr val="FFFF00">
              <a:alpha val="2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E2D4C4-D489-4A9C-8A00-74FDCBD0C125}"/>
              </a:ext>
            </a:extLst>
          </p:cNvPr>
          <p:cNvSpPr/>
          <p:nvPr/>
        </p:nvSpPr>
        <p:spPr>
          <a:xfrm>
            <a:off x="5151120" y="1880580"/>
            <a:ext cx="386080" cy="274320"/>
          </a:xfrm>
          <a:prstGeom prst="rect">
            <a:avLst/>
          </a:prstGeom>
          <a:solidFill>
            <a:srgbClr val="FFFF00">
              <a:alpha val="2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D79768-497E-40DC-B104-8279444B69AF}"/>
              </a:ext>
            </a:extLst>
          </p:cNvPr>
          <p:cNvSpPr/>
          <p:nvPr/>
        </p:nvSpPr>
        <p:spPr>
          <a:xfrm>
            <a:off x="6410960" y="2753360"/>
            <a:ext cx="5029468" cy="254000"/>
          </a:xfrm>
          <a:prstGeom prst="rect">
            <a:avLst/>
          </a:prstGeom>
          <a:solidFill>
            <a:srgbClr val="FFFF00">
              <a:alpha val="2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675523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740</Words>
  <Application>Microsoft Office PowerPoint</Application>
  <PresentationFormat>Widescreen</PresentationFormat>
  <Paragraphs>486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Siew Leng Lim</dc:creator>
  <cp:lastModifiedBy>Siew Leng Lim</cp:lastModifiedBy>
  <cp:revision>7</cp:revision>
  <dcterms:created xsi:type="dcterms:W3CDTF">2026-05-17T05:44:19Z</dcterms:created>
  <dcterms:modified xsi:type="dcterms:W3CDTF">2026-05-17T14:25:19Z</dcterms:modified>
</cp:coreProperties>
</file>